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91440"/>
          </a:xfrm>
          <a:prstGeom prst="rect">
            <a:avLst/>
          </a:prstGeom>
          <a:solidFill>
            <a:srgbClr val="2C7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777240"/>
            <a:ext cx="274320" cy="274320"/>
          </a:xfrm>
          <a:prstGeom prst="ellipse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777240"/>
            <a:ext cx="274320" cy="274320"/>
          </a:xfrm>
          <a:prstGeom prst="ellipse">
            <a:avLst/>
          </a:prstGeom>
          <a:solidFill>
            <a:srgbClr val="F7D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777240"/>
            <a:ext cx="274320" cy="274320"/>
          </a:xfrm>
          <a:prstGeom prst="ellipse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777240"/>
            <a:ext cx="274320" cy="274320"/>
          </a:xfrm>
          <a:prstGeom prst="ellipse">
            <a:avLst/>
          </a:prstGeom>
          <a:solidFill>
            <a:srgbClr val="F7D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777240"/>
            <a:ext cx="274320" cy="274320"/>
          </a:xfrm>
          <a:prstGeom prst="ellipse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4577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800" b="1">
                <a:solidFill>
                  <a:srgbClr val="FFFFFF"/>
                </a:solidFill>
                <a:latin typeface="Calibri"/>
              </a:rPr>
              <a:t>Immo Eliza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2600" b="1">
                <a:solidFill>
                  <a:srgbClr val="F7D000"/>
                </a:solidFill>
                <a:latin typeface="Calibri"/>
              </a:rPr>
              <a:t>Scraping &amp; mapping the Belgian property market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C9D6E6"/>
                </a:solidFill>
                <a:latin typeface="Calibri"/>
              </a:rPr>
              <a:t>An end-to-end pipeline that discovers every for-sale and for-rent listing on immovlan.be, extracts a rich set of features, pins each property to the map, and tags its nearest major 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9FB3CC"/>
                </a:solidFill>
                <a:latin typeface="Calibri"/>
              </a:rPr>
              <a:t>How it works  ·  </a:t>
            </a:r>
            <a:r>
              <a:rPr sz="1500" b="1">
                <a:solidFill>
                  <a:srgbClr val="F7D000"/>
                </a:solidFill>
                <a:latin typeface="Calibri"/>
              </a:rPr>
              <a:t>src/</a:t>
            </a:r>
            <a:r>
              <a:rPr sz="1500" b="0">
                <a:solidFill>
                  <a:srgbClr val="9FB3CC"/>
                </a:solidFill>
                <a:latin typeface="Calibri"/>
              </a:rPr>
              <a:t> production pipeline  &amp;  </a:t>
            </a:r>
            <a:r>
              <a:rPr sz="1500" b="1">
                <a:solidFill>
                  <a:srgbClr val="F7D000"/>
                </a:solidFill>
                <a:latin typeface="Calibri"/>
              </a:rPr>
              <a:t>dev/</a:t>
            </a:r>
            <a:r>
              <a:rPr sz="1500" b="0">
                <a:solidFill>
                  <a:srgbClr val="9FB3CC"/>
                </a:solidFill>
                <a:latin typeface="Calibri"/>
              </a:rPr>
              <a:t>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C7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2011680" cy="54864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0" y="1051560"/>
            <a:ext cx="1280160" cy="54864"/>
          </a:xfrm>
          <a:prstGeom prst="rect">
            <a:avLst/>
          </a:prstGeom>
          <a:solidFill>
            <a:srgbClr val="F7D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109441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7D000"/>
                </a:solidFill>
                <a:latin typeface="Calibri"/>
              </a:rPr>
              <a:t>THE BIG PICTURE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How it all works — a four-stage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287" y="2011680"/>
            <a:ext cx="2468880" cy="1828800"/>
          </a:xfrm>
          <a:prstGeom prst="roundRect">
            <a:avLst/>
          </a:prstGeom>
          <a:solidFill>
            <a:srgbClr val="2C7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 · COLLECT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urlfetcher.py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AF0F8"/>
                </a:solidFill>
                <a:latin typeface="Calibri"/>
              </a:rPr>
              <a:t>Find every listing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AF0F8"/>
                </a:solidFill>
                <a:latin typeface="Calibri"/>
              </a:rPr>
              <a:t>on the website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41167" y="2606040"/>
            <a:ext cx="457200" cy="640080"/>
          </a:xfrm>
          <a:prstGeom prst="rightArrow">
            <a:avLst/>
          </a:prstGeom>
          <a:solidFill>
            <a:srgbClr val="B9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98367" y="2011680"/>
            <a:ext cx="2468880" cy="18288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 · SCRAPE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scraper.py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AF0F8"/>
                </a:solidFill>
                <a:latin typeface="Calibri"/>
              </a:rPr>
              <a:t>Download pages &amp;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AF0F8"/>
                </a:solidFill>
                <a:latin typeface="Calibri"/>
              </a:rPr>
              <a:t>extract the 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67247" y="2606040"/>
            <a:ext cx="457200" cy="640080"/>
          </a:xfrm>
          <a:prstGeom prst="rightArrow">
            <a:avLst/>
          </a:prstGeom>
          <a:solidFill>
            <a:srgbClr val="B9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24447" y="2011680"/>
            <a:ext cx="2468880" cy="1828800"/>
          </a:xfrm>
          <a:prstGeom prst="round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 · ENRICH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postprocessing.py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AF0F8"/>
                </a:solidFill>
                <a:latin typeface="Calibri"/>
              </a:rPr>
              <a:t>Add coordinates &amp;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AF0F8"/>
                </a:solidFill>
                <a:latin typeface="Calibri"/>
              </a:rPr>
              <a:t>nearest city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93327" y="2606040"/>
            <a:ext cx="457200" cy="640080"/>
          </a:xfrm>
          <a:prstGeom prst="rightArrow">
            <a:avLst/>
          </a:prstGeom>
          <a:solidFill>
            <a:srgbClr val="B9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50527" y="2011680"/>
            <a:ext cx="2468880" cy="1828800"/>
          </a:xfrm>
          <a:prstGeom prst="roundRect">
            <a:avLst/>
          </a:prstGeom>
          <a:solidFill>
            <a:srgbClr val="C9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 · MAP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htmlmap.py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AF0F8"/>
                </a:solidFill>
                <a:latin typeface="Calibri"/>
              </a:rPr>
              <a:t>Plot every property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AF0F8"/>
                </a:solidFill>
                <a:latin typeface="Calibri"/>
              </a:rPr>
              <a:t>on a live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110944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Data flows through CSV files:  </a:t>
            </a:r>
            <a:r>
              <a:rPr sz="1500" b="0">
                <a:solidFill>
                  <a:srgbClr val="2C7BE5"/>
                </a:solidFill>
                <a:latin typeface="Calibri"/>
              </a:rPr>
              <a:t>property_urls.csv</a:t>
            </a:r>
            <a:r>
              <a:rPr sz="1500" b="0">
                <a:solidFill>
                  <a:srgbClr val="5A5A5A"/>
                </a:solidFill>
                <a:latin typeface="Calibri"/>
              </a:rPr>
              <a:t>  →  </a:t>
            </a:r>
            <a:r>
              <a:rPr sz="1500" b="0">
                <a:solidFill>
                  <a:srgbClr val="2C7BE5"/>
                </a:solidFill>
                <a:latin typeface="Calibri"/>
              </a:rPr>
              <a:t>forsale.csv / torent.csv</a:t>
            </a:r>
            <a:r>
              <a:rPr sz="1500" b="0">
                <a:solidFill>
                  <a:srgbClr val="5A5A5A"/>
                </a:solidFill>
                <a:latin typeface="Calibri"/>
              </a:rPr>
              <a:t>  →  enriched CSVs  →  </a:t>
            </a:r>
            <a:r>
              <a:rPr sz="1500" b="0">
                <a:solidFill>
                  <a:srgbClr val="2C7BE5"/>
                </a:solidFill>
                <a:latin typeface="Calibri"/>
              </a:rPr>
              <a:t>property_map.html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109441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Every stage is independent and </a:t>
            </a:r>
            <a:r>
              <a:rPr sz="1500" b="1">
                <a:solidFill>
                  <a:srgbClr val="2B2B2B"/>
                </a:solidFill>
                <a:latin typeface="Calibri"/>
              </a:rPr>
              <a:t>resumable</a:t>
            </a:r>
            <a:r>
              <a:rPr sz="1500" b="0">
                <a:solidFill>
                  <a:srgbClr val="5A5A5A"/>
                </a:solidFill>
                <a:latin typeface="Calibri"/>
              </a:rPr>
              <a:t> — each reads the previous stage's CSV, does only the work that is still missing, and writes its results back. An interrupted run is simply restarted.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C7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2011680" cy="54864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0" y="1051560"/>
            <a:ext cx="1280160" cy="54864"/>
          </a:xfrm>
          <a:prstGeom prst="rect">
            <a:avLst/>
          </a:prstGeom>
          <a:solidFill>
            <a:srgbClr val="F7D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109441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7D000"/>
                </a:solidFill>
                <a:latin typeface="Calibri"/>
              </a:rPr>
              <a:t>STEPS 1–2  ·  COLLECT &amp; SCRAPE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Finding &amp; harvesting the listings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484632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09728" cy="4846320"/>
          </a:xfrm>
          <a:prstGeom prst="rect">
            <a:avLst/>
          </a:prstGeom>
          <a:solidFill>
            <a:srgbClr val="2C7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4846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2C7BE5"/>
                </a:solidFill>
                <a:latin typeface="Calibri"/>
              </a:rPr>
              <a:t>urlfetcher.py — discover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Builds the master list of properties to scrape.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2C7BE5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Walks the search pages</a:t>
            </a:r>
            <a:r>
              <a:rPr sz="1400" b="0">
                <a:solidFill>
                  <a:srgbClr val="5A5A5A"/>
                </a:solidFill>
                <a:latin typeface="Calibri"/>
              </a:rPr>
              <a:t> one by one, following the site's pagination.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2C7BE5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Splits each search into price bands</a:t>
            </a:r>
            <a:r>
              <a:rPr sz="1400" b="0">
                <a:solidFill>
                  <a:srgbClr val="5A5A5A"/>
                </a:solidFill>
                <a:latin typeface="Calibri"/>
              </a:rPr>
              <a:t> so it reaches the whole inventory, not just the first shallow window the site exposes.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2C7BE5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Expands “project” listings</a:t>
            </a:r>
            <a:r>
              <a:rPr sz="1400" b="0">
                <a:solidFill>
                  <a:srgbClr val="5A5A5A"/>
                </a:solidFill>
                <a:latin typeface="Calibri"/>
              </a:rPr>
              <a:t> (new-construction developments) into their individual apartments and houses.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2C7BE5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Keeps only houses &amp; apartments</a:t>
            </a:r>
            <a:r>
              <a:rPr sz="1400" b="0">
                <a:solidFill>
                  <a:srgbClr val="5A5A5A"/>
                </a:solidFill>
                <a:latin typeface="Calibri"/>
              </a:rPr>
              <a:t> and removes duplicates globally.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Output:  </a:t>
            </a:r>
            <a:r>
              <a:rPr sz="1400" b="0">
                <a:solidFill>
                  <a:srgbClr val="2C7BE5"/>
                </a:solidFill>
                <a:latin typeface="Calibri"/>
              </a:rPr>
              <a:t>property_urls.csv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394960" cy="484632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109728" cy="4846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645920"/>
            <a:ext cx="4846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scraper.py — download &amp; extract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Turns each listing page into a clean data row.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Saves a snapshot</a:t>
            </a:r>
            <a:r>
              <a:rPr sz="1400" b="0">
                <a:solidFill>
                  <a:srgbClr val="5A5A5A"/>
                </a:solidFill>
                <a:latin typeface="Calibri"/>
              </a:rPr>
              <a:t> of every page's raw HTML so it can be re-parsed later.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Detects for-sale vs for-rent</a:t>
            </a:r>
            <a:r>
              <a:rPr sz="1400" b="0">
                <a:solidFill>
                  <a:srgbClr val="5A5A5A"/>
                </a:solidFill>
                <a:latin typeface="Calibri"/>
              </a:rPr>
              <a:t> from the page itself, and applies the matching data dictionary.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Extracts ~70 fields</a:t>
            </a:r>
            <a:r>
              <a:rPr sz="1400" b="0">
                <a:solidFill>
                  <a:srgbClr val="5A5A5A"/>
                </a:solidFill>
                <a:latin typeface="Calibri"/>
              </a:rPr>
              <a:t> — price, surfaces, bedrooms, energy rating, address, flood risk, and more.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Appends rows</a:t>
            </a:r>
            <a:r>
              <a:rPr sz="1400" b="0">
                <a:solidFill>
                  <a:srgbClr val="5A5A5A"/>
                </a:solidFill>
                <a:latin typeface="Calibri"/>
              </a:rPr>
              <a:t> to forsale.csv / torent.csv, flushing each one to disk.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scraper_mt.py</a:t>
            </a:r>
            <a:r>
              <a:rPr sz="1400" b="0">
                <a:solidFill>
                  <a:srgbClr val="5A5A5A"/>
                </a:solidFill>
                <a:latin typeface="Calibri"/>
              </a:rPr>
              <a:t> runs the same logic across a pool of threads for speed.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C7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2011680" cy="54864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0" y="1051560"/>
            <a:ext cx="1280160" cy="54864"/>
          </a:xfrm>
          <a:prstGeom prst="rect">
            <a:avLst/>
          </a:prstGeom>
          <a:solidFill>
            <a:srgbClr val="F7D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109441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7D000"/>
                </a:solidFill>
                <a:latin typeface="Calibri"/>
              </a:rPr>
              <a:t>STEPS 3–4  ·  GEO-ENRICH &amp; VISUALIZE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Enriching &amp; putting it on the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484632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09728" cy="4846320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4846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E03131"/>
                </a:solidFill>
                <a:latin typeface="Calibri"/>
              </a:rPr>
              <a:t>postprocessing.py — add geography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Gives every property a precise location and context.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E03131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Geocodes the address</a:t>
            </a:r>
            <a:r>
              <a:rPr sz="1400" b="0">
                <a:solidFill>
                  <a:srgbClr val="5A5A5A"/>
                </a:solidFill>
                <a:latin typeface="Calibri"/>
              </a:rPr>
              <a:t> into latitude/longitude using a free OpenStreetMap service, only for rows still missing coordinates.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E03131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Finds the nearest big city</a:t>
            </a:r>
            <a:r>
              <a:rPr sz="1400" b="0">
                <a:solidFill>
                  <a:srgbClr val="5A5A5A"/>
                </a:solidFill>
                <a:latin typeface="Calibri"/>
              </a:rPr>
              <a:t> (over 50,000 inhabitants) and records its name and the straight-line distance to it.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E03131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Distance via the Haversine formula</a:t>
            </a:r>
            <a:r>
              <a:rPr sz="1400" b="0">
                <a:solidFill>
                  <a:srgbClr val="5A5A5A"/>
                </a:solidFill>
                <a:latin typeface="Calibri"/>
              </a:rPr>
              <a:t> — the great-circle distance between two points on the globe.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E03131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Resumable &amp; polite</a:t>
            </a:r>
            <a:r>
              <a:rPr sz="1400" b="0">
                <a:solidFill>
                  <a:srgbClr val="5A5A5A"/>
                </a:solidFill>
                <a:latin typeface="Calibri"/>
              </a:rPr>
              <a:t> — caches lookups, respects rate limits, and shows live progress on a single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394960" cy="484632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109728" cy="4846320"/>
          </a:xfrm>
          <a:prstGeom prst="rect">
            <a:avLst/>
          </a:prstGeom>
          <a:solidFill>
            <a:srgbClr val="C9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645920"/>
            <a:ext cx="4846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A68600"/>
                </a:solidFill>
                <a:latin typeface="Calibri"/>
              </a:rPr>
              <a:t>htmlmap.py — interactive map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One self-contained web page, one dot per property.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A68600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Plots every property</a:t>
            </a:r>
            <a:r>
              <a:rPr sz="1400" b="0">
                <a:solidFill>
                  <a:srgbClr val="5A5A5A"/>
                </a:solidFill>
                <a:latin typeface="Calibri"/>
              </a:rPr>
              <a:t> on a zoomable map of Belgium.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E03131"/>
                </a:solidFill>
                <a:latin typeface="Calibri"/>
              </a:rPr>
              <a:t>● </a:t>
            </a:r>
            <a:r>
              <a:rPr sz="1400" b="1">
                <a:solidFill>
                  <a:srgbClr val="2B2B2B"/>
                </a:solidFill>
                <a:latin typeface="Calibri"/>
              </a:rPr>
              <a:t>Red = for sale</a:t>
            </a:r>
            <a:r>
              <a:rPr sz="1400" b="0">
                <a:solidFill>
                  <a:srgbClr val="2B2B2B"/>
                </a:solidFill>
                <a:latin typeface="Calibri"/>
              </a:rPr>
              <a:t>      </a:t>
            </a:r>
            <a:r>
              <a:rPr sz="1400" b="0">
                <a:solidFill>
                  <a:srgbClr val="F7D000"/>
                </a:solidFill>
                <a:latin typeface="Calibri"/>
              </a:rPr>
              <a:t>● </a:t>
            </a:r>
            <a:r>
              <a:rPr sz="1400" b="1">
                <a:solidFill>
                  <a:srgbClr val="2B2B2B"/>
                </a:solidFill>
                <a:latin typeface="Calibri"/>
              </a:rPr>
              <a:t>Yellow = for rent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A68600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Pop-ups, layer toggles &amp; a legend</a:t>
            </a:r>
            <a:r>
              <a:rPr sz="1400" b="0">
                <a:solidFill>
                  <a:srgbClr val="5A5A5A"/>
                </a:solidFill>
                <a:latin typeface="Calibri"/>
              </a:rPr>
              <a:t> — click a dot for price, locality and a link; switch sale or rent on and off.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A68600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Self-contained HTML</a:t>
            </a:r>
            <a:r>
              <a:rPr sz="1400" b="0">
                <a:solidFill>
                  <a:srgbClr val="5A5A5A"/>
                </a:solidFill>
                <a:latin typeface="Calibri"/>
              </a:rPr>
              <a:t> that opens in any browser; the data is embedded in the file.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A68600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Auto-corrects bad coordinates</a:t>
            </a:r>
            <a:r>
              <a:rPr sz="1400" b="0">
                <a:solidFill>
                  <a:srgbClr val="5A5A5A"/>
                </a:solidFill>
                <a:latin typeface="Calibri"/>
              </a:rPr>
              <a:t> (swapped latitude/longitude) so the map always frames Belgium.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C7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2011680" cy="54864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0" y="1051560"/>
            <a:ext cx="1280160" cy="54864"/>
          </a:xfrm>
          <a:prstGeom prst="rect">
            <a:avLst/>
          </a:prstGeom>
          <a:solidFill>
            <a:srgbClr val="F7D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109441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7D000"/>
                </a:solidFill>
                <a:latin typeface="Calibri"/>
              </a:rPr>
              <a:t>DEV/ VS SRC/  ·  TAKEAWAYS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workshop behind it, and how it's built to last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484632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09728" cy="484632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4846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dev/  —  the workshop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Throw-away prototypes that shaped the final design.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url_to_html.py</a:t>
            </a:r>
            <a:r>
              <a:rPr sz="1400" b="0">
                <a:solidFill>
                  <a:srgbClr val="5A5A5A"/>
                </a:solidFill>
                <a:latin typeface="Calibri"/>
              </a:rPr>
              <a:t> — a first concurrent page downloader.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Scraping_HTML.py</a:t>
            </a:r>
            <a:r>
              <a:rPr sz="1400" b="0">
                <a:solidFill>
                  <a:srgbClr val="5A5A5A"/>
                </a:solidFill>
                <a:latin typeface="Calibri"/>
              </a:rPr>
              <a:t> — an alternative parser reading the page's embedded structured data.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▸ </a:t>
            </a:r>
            <a:r>
              <a:rPr sz="1400" b="1">
                <a:solidFill>
                  <a:srgbClr val="2B2B2B"/>
                </a:solidFill>
                <a:latin typeface="Calibri"/>
              </a:rPr>
              <a:t>urlfetcher.py</a:t>
            </a:r>
            <a:r>
              <a:rPr sz="1400" b="0">
                <a:solidFill>
                  <a:srgbClr val="5A5A5A"/>
                </a:solidFill>
                <a:latin typeface="Calibri"/>
              </a:rPr>
              <a:t> — an earlier take on the URL collector.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2C7BE5"/>
                </a:solidFill>
                <a:latin typeface="Calibri"/>
              </a:rPr>
              <a:t>src/  —  the production pipeline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The polished, hardened versions that actually run end-to-end, documented by the data dictionaries and MAP.md.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394960" cy="48463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691640"/>
            <a:ext cx="47548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>
                <a:solidFill>
                  <a:srgbClr val="F7D000"/>
                </a:solidFill>
                <a:latin typeface="Calibri"/>
              </a:rPr>
              <a:t>What makes it work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400" b="0">
                <a:solidFill>
                  <a:srgbClr val="F7D000"/>
                </a:solidFill>
                <a:latin typeface="Calibri"/>
              </a:rPr>
              <a:t>✓  </a:t>
            </a:r>
            <a:r>
              <a:rPr sz="1400" b="1">
                <a:solidFill>
                  <a:srgbClr val="FFFFFF"/>
                </a:solidFill>
                <a:latin typeface="Calibri"/>
              </a:rPr>
              <a:t>Resumable everywhere</a:t>
            </a:r>
            <a:r>
              <a:rPr sz="1400" b="0">
                <a:solidFill>
                  <a:srgbClr val="C9D6E6"/>
                </a:solidFill>
                <a:latin typeface="Calibri"/>
              </a:rPr>
              <a:t> — the CSV is the state, so any stage can stop and restart without losing or repeating work.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400" b="0">
                <a:solidFill>
                  <a:srgbClr val="F7D000"/>
                </a:solidFill>
                <a:latin typeface="Calibri"/>
              </a:rPr>
              <a:t>✓  </a:t>
            </a:r>
            <a:r>
              <a:rPr sz="1400" b="1">
                <a:solidFill>
                  <a:srgbClr val="FFFFFF"/>
                </a:solidFill>
                <a:latin typeface="Calibri"/>
              </a:rPr>
              <a:t>Polite &amp; robust crawling</a:t>
            </a:r>
            <a:r>
              <a:rPr sz="1400" b="0">
                <a:solidFill>
                  <a:srgbClr val="C9D6E6"/>
                </a:solidFill>
                <a:latin typeface="Calibri"/>
              </a:rPr>
              <a:t> — rate limits, retries and realistic browser headers keep it reliable and considerate.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400" b="0">
                <a:solidFill>
                  <a:srgbClr val="F7D000"/>
                </a:solidFill>
                <a:latin typeface="Calibri"/>
              </a:rPr>
              <a:t>✓  </a:t>
            </a:r>
            <a:r>
              <a:rPr sz="1400" b="1">
                <a:solidFill>
                  <a:srgbClr val="FFFFFF"/>
                </a:solidFill>
                <a:latin typeface="Calibri"/>
              </a:rPr>
              <a:t>Config-driven</a:t>
            </a:r>
            <a:r>
              <a:rPr sz="1400" b="0">
                <a:solidFill>
                  <a:srgbClr val="C9D6E6"/>
                </a:solidFill>
                <a:latin typeface="Calibri"/>
              </a:rPr>
              <a:t> — search scope and behaviour are set in one place, no code changes needed.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400" b="0">
                <a:solidFill>
                  <a:srgbClr val="F7D000"/>
                </a:solidFill>
                <a:latin typeface="Calibri"/>
              </a:rPr>
              <a:t>✓  </a:t>
            </a:r>
            <a:r>
              <a:rPr sz="1400" b="1">
                <a:solidFill>
                  <a:srgbClr val="FFFFFF"/>
                </a:solidFill>
                <a:latin typeface="Calibri"/>
              </a:rPr>
              <a:t>Documented</a:t>
            </a:r>
            <a:r>
              <a:rPr sz="1400" b="0">
                <a:solidFill>
                  <a:srgbClr val="C9D6E6"/>
                </a:solidFill>
                <a:latin typeface="Calibri"/>
              </a:rPr>
              <a:t> — data dictionaries describe every column; MAP.md explains the geo 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