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8"/>
  </p:normalViewPr>
  <p:slideViewPr>
    <p:cSldViewPr snapToGrid="0" snapToObjects="1">
      <p:cViewPr>
        <p:scale>
          <a:sx n="100" d="100"/>
          <a:sy n="100" d="100"/>
        </p:scale>
        <p:origin x="336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023"/>
                </a:solidFill>
                <a:latin typeface="Calibri"/>
              </a:rPr>
              <a:t>dev/</a:t>
            </a:r>
            <a:r>
              <a:rPr sz="4000" b="1">
                <a:solidFill>
                  <a:srgbClr val="102A43"/>
                </a:solidFill>
                <a:latin typeface="Calibri"/>
              </a:rPr>
              <a:t>map.py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B6B7B"/>
                </a:solidFill>
                <a:latin typeface="Calibri"/>
              </a:rPr>
              <a:t>Turns the scraped property dataset into an interactive map — in two passes.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920240" cy="54864"/>
          </a:xfrm>
          <a:prstGeom prst="rect">
            <a:avLst/>
          </a:prstGeom>
          <a:solidFill>
            <a:srgbClr val="F5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338328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566928"/>
          </a:xfrm>
          <a:prstGeom prst="roundRect">
            <a:avLst/>
          </a:prstGeom>
          <a:solidFill>
            <a:srgbClr val="1F9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1 · Enrich the CSV  (in place)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56032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Geocodes any listing still missing </a:t>
            </a:r>
            <a:r>
              <a:rPr sz="1400" b="1">
                <a:solidFill>
                  <a:srgbClr val="102A43"/>
                </a:solidFill>
                <a:latin typeface="Calibri"/>
              </a:rPr>
              <a:t>latitude / longitude</a:t>
            </a:r>
            <a:r>
              <a:rPr sz="1400" b="0">
                <a:solidFill>
                  <a:srgbClr val="102A43"/>
                </a:solidFill>
                <a:latin typeface="Calibri"/>
              </a:rPr>
              <a:t> via OpenStreetMap </a:t>
            </a:r>
            <a:r>
              <a:rPr sz="1400" b="1">
                <a:solidFill>
                  <a:srgbClr val="102A43"/>
                </a:solidFill>
                <a:latin typeface="Calibri"/>
              </a:rPr>
              <a:t>Nominatim</a:t>
            </a:r>
            <a:r>
              <a:rPr sz="1400" b="0">
                <a:solidFill>
                  <a:srgbClr val="102A43"/>
                </a:solidFill>
                <a:latin typeface="Calibri"/>
              </a:rPr>
              <a:t> (postcode + locality centroid).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Polite &amp; robust: </a:t>
            </a:r>
            <a:r>
              <a:rPr sz="1400" b="1">
                <a:solidFill>
                  <a:srgbClr val="102A43"/>
                </a:solidFill>
                <a:latin typeface="Calibri"/>
              </a:rPr>
              <a:t>≤ 1 request/sec, cached per postcode, checkpointed every 20 rows</a:t>
            </a:r>
            <a:r>
              <a:rPr sz="1400" b="0">
                <a:solidFill>
                  <a:srgbClr val="102A43"/>
                </a:solidFill>
                <a:latin typeface="Calibri"/>
              </a:rPr>
              <a:t> → fully resumable.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Appends </a:t>
            </a:r>
            <a:r>
              <a:rPr sz="1400" b="1">
                <a:solidFill>
                  <a:srgbClr val="1F9E89"/>
                </a:solidFill>
                <a:latin typeface="Calibri"/>
              </a:rPr>
              <a:t>nearest_city</a:t>
            </a:r>
            <a:r>
              <a:rPr sz="1400" b="0">
                <a:solidFill>
                  <a:srgbClr val="102A43"/>
                </a:solidFill>
                <a:latin typeface="Calibri"/>
              </a:rPr>
              <a:t> + </a:t>
            </a:r>
            <a:r>
              <a:rPr sz="1400" b="1">
                <a:solidFill>
                  <a:srgbClr val="1F9E89"/>
                </a:solidFill>
                <a:latin typeface="Calibri"/>
              </a:rPr>
              <a:t>nearest_city_distance_km</a:t>
            </a:r>
            <a:r>
              <a:rPr sz="1400" b="0">
                <a:solidFill>
                  <a:srgbClr val="102A43"/>
                </a:solidFill>
                <a:latin typeface="Calibri"/>
              </a:rPr>
              <a:t>: the closest city of &gt; 50,000 inhabitants and the great-circle (haversine) distance to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783080"/>
            <a:ext cx="5486400" cy="338328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53912" y="1783080"/>
            <a:ext cx="5486400" cy="566928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  2 · Render the interactive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6032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Writes a self-contained </a:t>
            </a:r>
            <a:r>
              <a:rPr sz="1400" b="1">
                <a:solidFill>
                  <a:srgbClr val="102A43"/>
                </a:solidFill>
                <a:latin typeface="Calibri"/>
              </a:rPr>
              <a:t>Leaflet</a:t>
            </a:r>
            <a:r>
              <a:rPr sz="1400" b="0">
                <a:solidFill>
                  <a:srgbClr val="102A43"/>
                </a:solidFill>
                <a:latin typeface="Calibri"/>
              </a:rPr>
              <a:t> map → </a:t>
            </a:r>
            <a:r>
              <a:rPr sz="1400" b="1">
                <a:solidFill>
                  <a:srgbClr val="5B6B7B"/>
                </a:solidFill>
                <a:latin typeface="Calibri"/>
              </a:rPr>
              <a:t>data/property_map2.html</a:t>
            </a:r>
            <a:r>
              <a:rPr sz="1400" b="0">
                <a:solidFill>
                  <a:srgbClr val="102A43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One dot per property:  </a:t>
            </a:r>
            <a:r>
              <a:rPr sz="1400" b="1">
                <a:solidFill>
                  <a:srgbClr val="E03131"/>
                </a:solidFill>
                <a:latin typeface="Calibri"/>
              </a:rPr>
              <a:t>● red = for sale</a:t>
            </a:r>
            <a:r>
              <a:rPr sz="1400" b="0">
                <a:solidFill>
                  <a:srgbClr val="102A43"/>
                </a:solidFill>
                <a:latin typeface="Calibri"/>
              </a:rPr>
              <a:t>   </a:t>
            </a:r>
            <a:r>
              <a:rPr sz="1400" b="1">
                <a:solidFill>
                  <a:srgbClr val="C9A300"/>
                </a:solidFill>
                <a:latin typeface="Calibri"/>
              </a:rPr>
              <a:t>● yellow = for rent</a:t>
            </a:r>
            <a:r>
              <a:rPr sz="1400" b="0">
                <a:solidFill>
                  <a:srgbClr val="102A43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Popups show price, locality, type and a link to the listing.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9E89"/>
                </a:solidFill>
              </a:rPr>
              <a:t>•  </a:t>
            </a:r>
            <a:r>
              <a:rPr sz="1400" b="0">
                <a:solidFill>
                  <a:srgbClr val="102A43"/>
                </a:solidFill>
                <a:latin typeface="Calibri"/>
              </a:rPr>
              <a:t>Auto-corrects swapped lat/lon and drops out-of-Belgium points, so the view stays fitted to the country.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40680"/>
            <a:ext cx="11091672" cy="96012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Input  </a:t>
            </a:r>
            <a:r>
              <a:rPr sz="1400" b="1">
                <a:solidFill>
                  <a:srgbClr val="FFFFFF"/>
                </a:solidFill>
                <a:latin typeface="Calibri"/>
              </a:rPr>
              <a:t>data/sale_properties.csv</a:t>
            </a:r>
            <a:r>
              <a:rPr sz="1400" b="0">
                <a:solidFill>
                  <a:srgbClr val="9FB3C8"/>
                </a:solidFill>
                <a:latin typeface="Calibri"/>
              </a:rPr>
              <a:t>   →   Outputs  </a:t>
            </a:r>
            <a:r>
              <a:rPr sz="1400" b="1">
                <a:solidFill>
                  <a:srgbClr val="FFFFFF"/>
                </a:solidFill>
                <a:latin typeface="Calibri"/>
              </a:rPr>
              <a:t>sale_properties_mapdata.csv</a:t>
            </a:r>
            <a:r>
              <a:rPr sz="1400" b="0">
                <a:solidFill>
                  <a:srgbClr val="9FB3C8"/>
                </a:solidFill>
                <a:latin typeface="Calibri"/>
              </a:rPr>
              <a:t>  +  </a:t>
            </a:r>
            <a:r>
              <a:rPr sz="1400" b="1">
                <a:solidFill>
                  <a:srgbClr val="FFFFFF"/>
                </a:solidFill>
                <a:latin typeface="Calibri"/>
              </a:rPr>
              <a:t>property_map2.html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5A023"/>
                </a:solidFill>
                <a:latin typeface="Calibri"/>
              </a:rPr>
              <a:t>Distance  </a:t>
            </a:r>
            <a:r>
              <a:rPr sz="1250" b="0">
                <a:solidFill>
                  <a:srgbClr val="FFFFFF"/>
                </a:solidFill>
                <a:latin typeface="Calibri"/>
              </a:rPr>
              <a:t>d = 2R · arcsin(√( sin²(Δφ/2) + cosφ₁·cosφ₂·sin²(Δλ/2) ))   ,   R = 6371 km</a:t>
            </a:r>
            <a:r>
              <a:rPr sz="1250" b="1">
                <a:solidFill>
                  <a:srgbClr val="F5A023"/>
                </a:solidFill>
                <a:latin typeface="Calibri"/>
              </a:rPr>
              <a:t>        Run  </a:t>
            </a:r>
            <a:r>
              <a:rPr sz="1250" b="1">
                <a:solidFill>
                  <a:srgbClr val="FFFFFF"/>
                </a:solidFill>
                <a:latin typeface="Calibri"/>
              </a:rPr>
              <a:t>python dev/map.py</a:t>
            </a:r>
            <a:r>
              <a:rPr sz="1250" b="0">
                <a:solidFill>
                  <a:srgbClr val="9FB3C8"/>
                </a:solidFill>
                <a:latin typeface="Calibri"/>
              </a:rPr>
              <a:t>  (requires requests)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890809-2127-3642-98C3-670043BA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50"/>
            <a:ext cx="11427492" cy="677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92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243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Stephane van der Aa</cp:lastModifiedBy>
  <cp:revision>2</cp:revision>
  <dcterms:created xsi:type="dcterms:W3CDTF">2013-01-27T09:14:16Z</dcterms:created>
  <dcterms:modified xsi:type="dcterms:W3CDTF">2026-06-18T11:09:19Z</dcterms:modified>
  <cp:category/>
</cp:coreProperties>
</file>